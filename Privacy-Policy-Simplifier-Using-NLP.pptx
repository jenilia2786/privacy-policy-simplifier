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Instrument Sans Medium" panose="020B0604020202020204" charset="0"/>
      <p:regular r:id="rId8"/>
    </p:embeddedFont>
    <p:embeddedFont>
      <p:font typeface="Instrument Sans Semi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5F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BD2CC8-97B3-4603-BFFA-F76EF00ECB33}" type="doc">
      <dgm:prSet loTypeId="urn:microsoft.com/office/officeart/2005/8/layout/hProcess9" loCatId="process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IN"/>
        </a:p>
      </dgm:t>
    </dgm:pt>
    <dgm:pt modelId="{E5669DED-FFEA-4B85-BFFA-5817B7B3DBF3}">
      <dgm:prSet/>
      <dgm:spPr/>
      <dgm:t>
        <a:bodyPr/>
        <a:lstStyle/>
        <a:p>
          <a:r>
            <a:rPr lang="en-IN"/>
            <a:t>[HTML Form] </a:t>
          </a:r>
        </a:p>
      </dgm:t>
    </dgm:pt>
    <dgm:pt modelId="{4A31CE35-22CF-4C74-A541-3B2420987E29}" type="parTrans" cxnId="{93670A8A-ED96-490A-9F0F-337F90699162}">
      <dgm:prSet/>
      <dgm:spPr/>
      <dgm:t>
        <a:bodyPr/>
        <a:lstStyle/>
        <a:p>
          <a:endParaRPr lang="en-IN"/>
        </a:p>
      </dgm:t>
    </dgm:pt>
    <dgm:pt modelId="{91F69DDB-A649-478D-804A-3B96CEB383E5}" type="sibTrans" cxnId="{93670A8A-ED96-490A-9F0F-337F90699162}">
      <dgm:prSet/>
      <dgm:spPr/>
      <dgm:t>
        <a:bodyPr/>
        <a:lstStyle/>
        <a:p>
          <a:endParaRPr lang="en-IN"/>
        </a:p>
      </dgm:t>
    </dgm:pt>
    <dgm:pt modelId="{E24A5DEF-3244-4148-8DD8-3109E80FE585}">
      <dgm:prSet/>
      <dgm:spPr/>
      <dgm:t>
        <a:bodyPr/>
        <a:lstStyle/>
        <a:p>
          <a:r>
            <a:rPr lang="en-IN"/>
            <a:t>[Flask] </a:t>
          </a:r>
        </a:p>
      </dgm:t>
    </dgm:pt>
    <dgm:pt modelId="{A2B8BB24-38F2-41D8-AFA4-7CC11FDFDAFA}" type="parTrans" cxnId="{01128660-2B1D-4152-AAA3-9953F6B55E0F}">
      <dgm:prSet/>
      <dgm:spPr/>
      <dgm:t>
        <a:bodyPr/>
        <a:lstStyle/>
        <a:p>
          <a:endParaRPr lang="en-IN"/>
        </a:p>
      </dgm:t>
    </dgm:pt>
    <dgm:pt modelId="{60E950E6-ABAE-41DB-9060-B287EDC1744F}" type="sibTrans" cxnId="{01128660-2B1D-4152-AAA3-9953F6B55E0F}">
      <dgm:prSet/>
      <dgm:spPr/>
      <dgm:t>
        <a:bodyPr/>
        <a:lstStyle/>
        <a:p>
          <a:endParaRPr lang="en-IN"/>
        </a:p>
      </dgm:t>
    </dgm:pt>
    <dgm:pt modelId="{2BD491DC-5BBC-4472-8106-E350F50BDF34}">
      <dgm:prSet/>
      <dgm:spPr/>
      <dgm:t>
        <a:bodyPr/>
        <a:lstStyle/>
        <a:p>
          <a:r>
            <a:rPr lang="en-IN"/>
            <a:t>[PyMuPDF / Text] </a:t>
          </a:r>
        </a:p>
      </dgm:t>
    </dgm:pt>
    <dgm:pt modelId="{5A8ADA39-4A52-4EBB-9B38-70089942F57B}" type="parTrans" cxnId="{4C557EC9-3E70-4F90-8057-D3DFE24D34C0}">
      <dgm:prSet/>
      <dgm:spPr/>
      <dgm:t>
        <a:bodyPr/>
        <a:lstStyle/>
        <a:p>
          <a:endParaRPr lang="en-IN"/>
        </a:p>
      </dgm:t>
    </dgm:pt>
    <dgm:pt modelId="{5C7E00C6-2FA9-4403-A372-E9C3410C1BCF}" type="sibTrans" cxnId="{4C557EC9-3E70-4F90-8057-D3DFE24D34C0}">
      <dgm:prSet/>
      <dgm:spPr/>
      <dgm:t>
        <a:bodyPr/>
        <a:lstStyle/>
        <a:p>
          <a:endParaRPr lang="en-IN"/>
        </a:p>
      </dgm:t>
    </dgm:pt>
    <dgm:pt modelId="{3FE7CACA-045E-4063-90DA-BC0654993331}">
      <dgm:prSet/>
      <dgm:spPr/>
      <dgm:t>
        <a:bodyPr/>
        <a:lstStyle/>
        <a:p>
          <a:r>
            <a:rPr lang="en-IN" dirty="0"/>
            <a:t>[Transformers for Summarize/QA] </a:t>
          </a:r>
        </a:p>
      </dgm:t>
    </dgm:pt>
    <dgm:pt modelId="{056B7D1D-E6A0-4B4F-9F67-9D0E0C8EEB87}" type="parTrans" cxnId="{AFD7AF1B-07B1-4AD3-89B9-B367D4090006}">
      <dgm:prSet/>
      <dgm:spPr/>
      <dgm:t>
        <a:bodyPr/>
        <a:lstStyle/>
        <a:p>
          <a:endParaRPr lang="en-IN"/>
        </a:p>
      </dgm:t>
    </dgm:pt>
    <dgm:pt modelId="{20FF2FDB-E282-4E88-A009-A5390E055FA8}" type="sibTrans" cxnId="{AFD7AF1B-07B1-4AD3-89B9-B367D4090006}">
      <dgm:prSet/>
      <dgm:spPr/>
      <dgm:t>
        <a:bodyPr/>
        <a:lstStyle/>
        <a:p>
          <a:endParaRPr lang="en-IN"/>
        </a:p>
      </dgm:t>
    </dgm:pt>
    <dgm:pt modelId="{AABFC7E1-28A4-4E67-AC66-640A58D8EBF8}">
      <dgm:prSet/>
      <dgm:spPr/>
      <dgm:t>
        <a:bodyPr/>
        <a:lstStyle/>
        <a:p>
          <a:r>
            <a:rPr lang="en-IN"/>
            <a:t>[Back to HTML]</a:t>
          </a:r>
        </a:p>
      </dgm:t>
    </dgm:pt>
    <dgm:pt modelId="{F92228F4-3EC4-4E92-9CC6-ABB631FA29AF}" type="parTrans" cxnId="{1A94E1C5-FD6C-41F4-B332-4283501FD19D}">
      <dgm:prSet/>
      <dgm:spPr/>
      <dgm:t>
        <a:bodyPr/>
        <a:lstStyle/>
        <a:p>
          <a:endParaRPr lang="en-IN"/>
        </a:p>
      </dgm:t>
    </dgm:pt>
    <dgm:pt modelId="{9E15D712-D353-4E90-9CDE-1AECE166EE7B}" type="sibTrans" cxnId="{1A94E1C5-FD6C-41F4-B332-4283501FD19D}">
      <dgm:prSet/>
      <dgm:spPr/>
      <dgm:t>
        <a:bodyPr/>
        <a:lstStyle/>
        <a:p>
          <a:endParaRPr lang="en-IN"/>
        </a:p>
      </dgm:t>
    </dgm:pt>
    <dgm:pt modelId="{734C991E-3E4D-4474-A0FC-DA9101E57B36}" type="pres">
      <dgm:prSet presAssocID="{C1BD2CC8-97B3-4603-BFFA-F76EF00ECB33}" presName="CompostProcess" presStyleCnt="0">
        <dgm:presLayoutVars>
          <dgm:dir/>
          <dgm:resizeHandles val="exact"/>
        </dgm:presLayoutVars>
      </dgm:prSet>
      <dgm:spPr/>
    </dgm:pt>
    <dgm:pt modelId="{BE6442C5-69A2-4C9E-83A5-BAADFFFD0BDA}" type="pres">
      <dgm:prSet presAssocID="{C1BD2CC8-97B3-4603-BFFA-F76EF00ECB33}" presName="arrow" presStyleLbl="bgShp" presStyleIdx="0" presStyleCnt="1"/>
      <dgm:spPr/>
    </dgm:pt>
    <dgm:pt modelId="{E8D9E4F3-C5EB-4AF0-85E3-F3AE18C20330}" type="pres">
      <dgm:prSet presAssocID="{C1BD2CC8-97B3-4603-BFFA-F76EF00ECB33}" presName="linearProcess" presStyleCnt="0"/>
      <dgm:spPr/>
    </dgm:pt>
    <dgm:pt modelId="{1D58F61A-F97B-4ED6-A1BA-2BD2B3A0F671}" type="pres">
      <dgm:prSet presAssocID="{E5669DED-FFEA-4B85-BFFA-5817B7B3DBF3}" presName="textNode" presStyleLbl="node1" presStyleIdx="0" presStyleCnt="5">
        <dgm:presLayoutVars>
          <dgm:bulletEnabled val="1"/>
        </dgm:presLayoutVars>
      </dgm:prSet>
      <dgm:spPr/>
    </dgm:pt>
    <dgm:pt modelId="{E7351EB1-9C6B-44B8-9CB0-6768F99527DC}" type="pres">
      <dgm:prSet presAssocID="{91F69DDB-A649-478D-804A-3B96CEB383E5}" presName="sibTrans" presStyleCnt="0"/>
      <dgm:spPr/>
    </dgm:pt>
    <dgm:pt modelId="{81F5CF66-AB96-4B3D-9667-378B7A4124D2}" type="pres">
      <dgm:prSet presAssocID="{E24A5DEF-3244-4148-8DD8-3109E80FE585}" presName="textNode" presStyleLbl="node1" presStyleIdx="1" presStyleCnt="5">
        <dgm:presLayoutVars>
          <dgm:bulletEnabled val="1"/>
        </dgm:presLayoutVars>
      </dgm:prSet>
      <dgm:spPr/>
    </dgm:pt>
    <dgm:pt modelId="{0C1C5F6B-77B2-460C-8181-488951BD2255}" type="pres">
      <dgm:prSet presAssocID="{60E950E6-ABAE-41DB-9060-B287EDC1744F}" presName="sibTrans" presStyleCnt="0"/>
      <dgm:spPr/>
    </dgm:pt>
    <dgm:pt modelId="{04AF83A3-EA80-48DC-94BB-28EEF7B446D5}" type="pres">
      <dgm:prSet presAssocID="{2BD491DC-5BBC-4472-8106-E350F50BDF34}" presName="textNode" presStyleLbl="node1" presStyleIdx="2" presStyleCnt="5">
        <dgm:presLayoutVars>
          <dgm:bulletEnabled val="1"/>
        </dgm:presLayoutVars>
      </dgm:prSet>
      <dgm:spPr/>
    </dgm:pt>
    <dgm:pt modelId="{B5259895-9719-4CFF-A9C4-38020E147EC5}" type="pres">
      <dgm:prSet presAssocID="{5C7E00C6-2FA9-4403-A372-E9C3410C1BCF}" presName="sibTrans" presStyleCnt="0"/>
      <dgm:spPr/>
    </dgm:pt>
    <dgm:pt modelId="{29B0C17D-F35B-42AE-9363-79903DC6E618}" type="pres">
      <dgm:prSet presAssocID="{3FE7CACA-045E-4063-90DA-BC0654993331}" presName="textNode" presStyleLbl="node1" presStyleIdx="3" presStyleCnt="5">
        <dgm:presLayoutVars>
          <dgm:bulletEnabled val="1"/>
        </dgm:presLayoutVars>
      </dgm:prSet>
      <dgm:spPr/>
    </dgm:pt>
    <dgm:pt modelId="{5441B2E7-1EE7-4701-B8E4-8908A43D81A5}" type="pres">
      <dgm:prSet presAssocID="{20FF2FDB-E282-4E88-A009-A5390E055FA8}" presName="sibTrans" presStyleCnt="0"/>
      <dgm:spPr/>
    </dgm:pt>
    <dgm:pt modelId="{60D7B424-5D1B-496F-9974-2934D6D78F05}" type="pres">
      <dgm:prSet presAssocID="{AABFC7E1-28A4-4E67-AC66-640A58D8EBF8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AFD7AF1B-07B1-4AD3-89B9-B367D4090006}" srcId="{C1BD2CC8-97B3-4603-BFFA-F76EF00ECB33}" destId="{3FE7CACA-045E-4063-90DA-BC0654993331}" srcOrd="3" destOrd="0" parTransId="{056B7D1D-E6A0-4B4F-9F67-9D0E0C8EEB87}" sibTransId="{20FF2FDB-E282-4E88-A009-A5390E055FA8}"/>
    <dgm:cxn modelId="{7CAEF737-F454-41FF-B1AD-5E82B2E537DB}" type="presOf" srcId="{AABFC7E1-28A4-4E67-AC66-640A58D8EBF8}" destId="{60D7B424-5D1B-496F-9974-2934D6D78F05}" srcOrd="0" destOrd="0" presId="urn:microsoft.com/office/officeart/2005/8/layout/hProcess9"/>
    <dgm:cxn modelId="{01128660-2B1D-4152-AAA3-9953F6B55E0F}" srcId="{C1BD2CC8-97B3-4603-BFFA-F76EF00ECB33}" destId="{E24A5DEF-3244-4148-8DD8-3109E80FE585}" srcOrd="1" destOrd="0" parTransId="{A2B8BB24-38F2-41D8-AFA4-7CC11FDFDAFA}" sibTransId="{60E950E6-ABAE-41DB-9060-B287EDC1744F}"/>
    <dgm:cxn modelId="{F90BEA6E-4A26-4D6E-A5B6-C4B418F1DA9C}" type="presOf" srcId="{2BD491DC-5BBC-4472-8106-E350F50BDF34}" destId="{04AF83A3-EA80-48DC-94BB-28EEF7B446D5}" srcOrd="0" destOrd="0" presId="urn:microsoft.com/office/officeart/2005/8/layout/hProcess9"/>
    <dgm:cxn modelId="{12B35079-CFE7-4B6C-A0D6-854ADC6CC20D}" type="presOf" srcId="{3FE7CACA-045E-4063-90DA-BC0654993331}" destId="{29B0C17D-F35B-42AE-9363-79903DC6E618}" srcOrd="0" destOrd="0" presId="urn:microsoft.com/office/officeart/2005/8/layout/hProcess9"/>
    <dgm:cxn modelId="{93670A8A-ED96-490A-9F0F-337F90699162}" srcId="{C1BD2CC8-97B3-4603-BFFA-F76EF00ECB33}" destId="{E5669DED-FFEA-4B85-BFFA-5817B7B3DBF3}" srcOrd="0" destOrd="0" parTransId="{4A31CE35-22CF-4C74-A541-3B2420987E29}" sibTransId="{91F69DDB-A649-478D-804A-3B96CEB383E5}"/>
    <dgm:cxn modelId="{B374718E-BC33-45D7-A3B1-5292C6AC2A6E}" type="presOf" srcId="{E5669DED-FFEA-4B85-BFFA-5817B7B3DBF3}" destId="{1D58F61A-F97B-4ED6-A1BA-2BD2B3A0F671}" srcOrd="0" destOrd="0" presId="urn:microsoft.com/office/officeart/2005/8/layout/hProcess9"/>
    <dgm:cxn modelId="{4A7732B1-0334-4C76-A280-457A6C7C9E9A}" type="presOf" srcId="{E24A5DEF-3244-4148-8DD8-3109E80FE585}" destId="{81F5CF66-AB96-4B3D-9667-378B7A4124D2}" srcOrd="0" destOrd="0" presId="urn:microsoft.com/office/officeart/2005/8/layout/hProcess9"/>
    <dgm:cxn modelId="{1A94E1C5-FD6C-41F4-B332-4283501FD19D}" srcId="{C1BD2CC8-97B3-4603-BFFA-F76EF00ECB33}" destId="{AABFC7E1-28A4-4E67-AC66-640A58D8EBF8}" srcOrd="4" destOrd="0" parTransId="{F92228F4-3EC4-4E92-9CC6-ABB631FA29AF}" sibTransId="{9E15D712-D353-4E90-9CDE-1AECE166EE7B}"/>
    <dgm:cxn modelId="{4C557EC9-3E70-4F90-8057-D3DFE24D34C0}" srcId="{C1BD2CC8-97B3-4603-BFFA-F76EF00ECB33}" destId="{2BD491DC-5BBC-4472-8106-E350F50BDF34}" srcOrd="2" destOrd="0" parTransId="{5A8ADA39-4A52-4EBB-9B38-70089942F57B}" sibTransId="{5C7E00C6-2FA9-4403-A372-E9C3410C1BCF}"/>
    <dgm:cxn modelId="{7F1FFEFB-527F-44CF-8D13-1EDC39DC5399}" type="presOf" srcId="{C1BD2CC8-97B3-4603-BFFA-F76EF00ECB33}" destId="{734C991E-3E4D-4474-A0FC-DA9101E57B36}" srcOrd="0" destOrd="0" presId="urn:microsoft.com/office/officeart/2005/8/layout/hProcess9"/>
    <dgm:cxn modelId="{B161ACDA-8C5A-46C3-8868-00614119C854}" type="presParOf" srcId="{734C991E-3E4D-4474-A0FC-DA9101E57B36}" destId="{BE6442C5-69A2-4C9E-83A5-BAADFFFD0BDA}" srcOrd="0" destOrd="0" presId="urn:microsoft.com/office/officeart/2005/8/layout/hProcess9"/>
    <dgm:cxn modelId="{16CF3112-8562-4880-A670-7DA8E948522E}" type="presParOf" srcId="{734C991E-3E4D-4474-A0FC-DA9101E57B36}" destId="{E8D9E4F3-C5EB-4AF0-85E3-F3AE18C20330}" srcOrd="1" destOrd="0" presId="urn:microsoft.com/office/officeart/2005/8/layout/hProcess9"/>
    <dgm:cxn modelId="{3151CF60-4687-4844-8D40-D1C1B46ED71F}" type="presParOf" srcId="{E8D9E4F3-C5EB-4AF0-85E3-F3AE18C20330}" destId="{1D58F61A-F97B-4ED6-A1BA-2BD2B3A0F671}" srcOrd="0" destOrd="0" presId="urn:microsoft.com/office/officeart/2005/8/layout/hProcess9"/>
    <dgm:cxn modelId="{12BC295A-2472-471B-A6DC-3E62EBA685C3}" type="presParOf" srcId="{E8D9E4F3-C5EB-4AF0-85E3-F3AE18C20330}" destId="{E7351EB1-9C6B-44B8-9CB0-6768F99527DC}" srcOrd="1" destOrd="0" presId="urn:microsoft.com/office/officeart/2005/8/layout/hProcess9"/>
    <dgm:cxn modelId="{51AE7342-D89A-4B11-97EA-68304C9AF9B3}" type="presParOf" srcId="{E8D9E4F3-C5EB-4AF0-85E3-F3AE18C20330}" destId="{81F5CF66-AB96-4B3D-9667-378B7A4124D2}" srcOrd="2" destOrd="0" presId="urn:microsoft.com/office/officeart/2005/8/layout/hProcess9"/>
    <dgm:cxn modelId="{F0403516-1513-4C5F-A3C0-4A13DF0C5F38}" type="presParOf" srcId="{E8D9E4F3-C5EB-4AF0-85E3-F3AE18C20330}" destId="{0C1C5F6B-77B2-460C-8181-488951BD2255}" srcOrd="3" destOrd="0" presId="urn:microsoft.com/office/officeart/2005/8/layout/hProcess9"/>
    <dgm:cxn modelId="{488BFB61-CEE8-4FA5-B27B-79DA14A083FC}" type="presParOf" srcId="{E8D9E4F3-C5EB-4AF0-85E3-F3AE18C20330}" destId="{04AF83A3-EA80-48DC-94BB-28EEF7B446D5}" srcOrd="4" destOrd="0" presId="urn:microsoft.com/office/officeart/2005/8/layout/hProcess9"/>
    <dgm:cxn modelId="{830B6A3F-6312-42C0-AE80-3E9D5B241A14}" type="presParOf" srcId="{E8D9E4F3-C5EB-4AF0-85E3-F3AE18C20330}" destId="{B5259895-9719-4CFF-A9C4-38020E147EC5}" srcOrd="5" destOrd="0" presId="urn:microsoft.com/office/officeart/2005/8/layout/hProcess9"/>
    <dgm:cxn modelId="{CF8E4C4E-255C-4BBF-8A16-B9E6604A3F16}" type="presParOf" srcId="{E8D9E4F3-C5EB-4AF0-85E3-F3AE18C20330}" destId="{29B0C17D-F35B-42AE-9363-79903DC6E618}" srcOrd="6" destOrd="0" presId="urn:microsoft.com/office/officeart/2005/8/layout/hProcess9"/>
    <dgm:cxn modelId="{B695800A-5187-4624-A918-C1D2BA8AB282}" type="presParOf" srcId="{E8D9E4F3-C5EB-4AF0-85E3-F3AE18C20330}" destId="{5441B2E7-1EE7-4701-B8E4-8908A43D81A5}" srcOrd="7" destOrd="0" presId="urn:microsoft.com/office/officeart/2005/8/layout/hProcess9"/>
    <dgm:cxn modelId="{4384E9D6-2766-4D1D-857F-DF49346739D1}" type="presParOf" srcId="{E8D9E4F3-C5EB-4AF0-85E3-F3AE18C20330}" destId="{60D7B424-5D1B-496F-9974-2934D6D78F05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6442C5-69A2-4C9E-83A5-BAADFFFD0BDA}">
      <dsp:nvSpPr>
        <dsp:cNvPr id="0" name=""/>
        <dsp:cNvSpPr/>
      </dsp:nvSpPr>
      <dsp:spPr>
        <a:xfrm>
          <a:off x="548639" y="0"/>
          <a:ext cx="6217920" cy="1477328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D58F61A-F97B-4ED6-A1BA-2BD2B3A0F671}">
      <dsp:nvSpPr>
        <dsp:cNvPr id="0" name=""/>
        <dsp:cNvSpPr/>
      </dsp:nvSpPr>
      <dsp:spPr>
        <a:xfrm>
          <a:off x="1495" y="443198"/>
          <a:ext cx="1382717" cy="59093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[HTML Form] </a:t>
          </a:r>
        </a:p>
      </dsp:txBody>
      <dsp:txXfrm>
        <a:off x="30342" y="472045"/>
        <a:ext cx="1325023" cy="533237"/>
      </dsp:txXfrm>
    </dsp:sp>
    <dsp:sp modelId="{81F5CF66-AB96-4B3D-9667-378B7A4124D2}">
      <dsp:nvSpPr>
        <dsp:cNvPr id="0" name=""/>
        <dsp:cNvSpPr/>
      </dsp:nvSpPr>
      <dsp:spPr>
        <a:xfrm>
          <a:off x="1483868" y="443198"/>
          <a:ext cx="1382717" cy="59093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[Flask] </a:t>
          </a:r>
        </a:p>
      </dsp:txBody>
      <dsp:txXfrm>
        <a:off x="1512715" y="472045"/>
        <a:ext cx="1325023" cy="533237"/>
      </dsp:txXfrm>
    </dsp:sp>
    <dsp:sp modelId="{04AF83A3-EA80-48DC-94BB-28EEF7B446D5}">
      <dsp:nvSpPr>
        <dsp:cNvPr id="0" name=""/>
        <dsp:cNvSpPr/>
      </dsp:nvSpPr>
      <dsp:spPr>
        <a:xfrm>
          <a:off x="2966241" y="443198"/>
          <a:ext cx="1382717" cy="59093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[PyMuPDF / Text] </a:t>
          </a:r>
        </a:p>
      </dsp:txBody>
      <dsp:txXfrm>
        <a:off x="2995088" y="472045"/>
        <a:ext cx="1325023" cy="533237"/>
      </dsp:txXfrm>
    </dsp:sp>
    <dsp:sp modelId="{29B0C17D-F35B-42AE-9363-79903DC6E618}">
      <dsp:nvSpPr>
        <dsp:cNvPr id="0" name=""/>
        <dsp:cNvSpPr/>
      </dsp:nvSpPr>
      <dsp:spPr>
        <a:xfrm>
          <a:off x="4448614" y="443198"/>
          <a:ext cx="1382717" cy="59093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[Transformers for Summarize/QA] </a:t>
          </a:r>
        </a:p>
      </dsp:txBody>
      <dsp:txXfrm>
        <a:off x="4477461" y="472045"/>
        <a:ext cx="1325023" cy="533237"/>
      </dsp:txXfrm>
    </dsp:sp>
    <dsp:sp modelId="{60D7B424-5D1B-496F-9974-2934D6D78F05}">
      <dsp:nvSpPr>
        <dsp:cNvPr id="0" name=""/>
        <dsp:cNvSpPr/>
      </dsp:nvSpPr>
      <dsp:spPr>
        <a:xfrm>
          <a:off x="5930986" y="443198"/>
          <a:ext cx="1382717" cy="59093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[Back to HTML]</a:t>
          </a:r>
        </a:p>
      </dsp:txBody>
      <dsp:txXfrm>
        <a:off x="5959833" y="472045"/>
        <a:ext cx="1325023" cy="533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387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3687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Privacy Policy Simplifier Using NLP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39459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 AI-driven system to transform complex legal texts into clear, concise, and interactive summaries.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37554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99360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61165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Madhu Rithika R K - 717823I223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22970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Jenilia Karen A - 717823I216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191" y="603647"/>
            <a:ext cx="2743795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Overview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68191" y="1166098"/>
            <a:ext cx="7028140" cy="68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Simplifying Privacy Policies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68191" y="2400657"/>
            <a:ext cx="2743795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Objective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68191" y="2963108"/>
            <a:ext cx="6279237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an AI system to summarize privacy policies and answer user questions.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8191" y="3863102"/>
            <a:ext cx="6279237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Human-readable summaries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8191" y="4291132"/>
            <a:ext cx="6279237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Interactive Q&amp;A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90592" y="2400657"/>
            <a:ext cx="2743795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Input &amp; Interface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590592" y="2963108"/>
            <a:ext cx="6279237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Seamless user experience with flexible input options and a clear web UI.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90592" y="3863102"/>
            <a:ext cx="6279237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PDF upload or plain text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90592" y="4291132"/>
            <a:ext cx="6279237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Web-based interface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8191" y="4966097"/>
            <a:ext cx="13094018" cy="2664738"/>
          </a:xfrm>
          <a:prstGeom prst="roundRect">
            <a:avLst>
              <a:gd name="adj" fmla="val 549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11" y="4966097"/>
            <a:ext cx="121920" cy="266473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09543" y="5216009"/>
            <a:ext cx="2743795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Core Functionalities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109543" y="5690711"/>
            <a:ext cx="12502753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Leveraging advanced NLP for comprehensive text processing and user interaction.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109543" y="6173629"/>
            <a:ext cx="12502753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Text extraction (PDF)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109543" y="6601658"/>
            <a:ext cx="12502753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NLP summarization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109543" y="7029688"/>
            <a:ext cx="12502753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Question answering</a:t>
            </a:r>
            <a:endParaRPr lang="en-US" sz="17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4724CE-C63E-199C-668D-2461D10FB21B}"/>
              </a:ext>
            </a:extLst>
          </p:cNvPr>
          <p:cNvSpPr/>
          <p:nvPr/>
        </p:nvSpPr>
        <p:spPr>
          <a:xfrm>
            <a:off x="12826135" y="7756446"/>
            <a:ext cx="1726206" cy="351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393" y="523637"/>
            <a:ext cx="238017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Technical Deep Dive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6393" y="1011436"/>
            <a:ext cx="5168622" cy="59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NLP Models &amp; Libraries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6393" y="2082284"/>
            <a:ext cx="2856190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6393" y="2938939"/>
            <a:ext cx="6416516" cy="1957507"/>
          </a:xfrm>
          <a:prstGeom prst="roundRect">
            <a:avLst>
              <a:gd name="adj" fmla="val 5605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93" y="2916079"/>
            <a:ext cx="6416516" cy="914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80" y="2653427"/>
            <a:ext cx="571143" cy="571143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0410" y="2796183"/>
            <a:ext cx="228481" cy="2855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9634" y="3414951"/>
            <a:ext cx="238017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79634" y="3902750"/>
            <a:ext cx="599003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facebook/bart-large-cnn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879634" y="4378643"/>
            <a:ext cx="599003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Abstractive summarizer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6393" y="5372338"/>
            <a:ext cx="6416516" cy="1481614"/>
          </a:xfrm>
          <a:prstGeom prst="roundRect">
            <a:avLst>
              <a:gd name="adj" fmla="val 7406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93" y="5349478"/>
            <a:ext cx="6416516" cy="9144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80" y="5086826"/>
            <a:ext cx="571143" cy="571143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0410" y="5229582"/>
            <a:ext cx="228481" cy="28551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79634" y="5848350"/>
            <a:ext cx="238017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Purpose</a:t>
            </a:r>
            <a:endParaRPr lang="en-US" sz="1850" dirty="0"/>
          </a:p>
        </p:txBody>
      </p:sp>
      <p:sp>
        <p:nvSpPr>
          <p:cNvPr id="17" name="Text 9"/>
          <p:cNvSpPr/>
          <p:nvPr/>
        </p:nvSpPr>
        <p:spPr>
          <a:xfrm>
            <a:off x="879634" y="6336149"/>
            <a:ext cx="599003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Condense lengthy policies into digestible summaries.</a:t>
            </a:r>
            <a:endParaRPr lang="en-US" sz="1450" dirty="0"/>
          </a:p>
        </p:txBody>
      </p:sp>
      <p:sp>
        <p:nvSpPr>
          <p:cNvPr id="18" name="Text 10"/>
          <p:cNvSpPr/>
          <p:nvPr/>
        </p:nvSpPr>
        <p:spPr>
          <a:xfrm>
            <a:off x="7555111" y="2082284"/>
            <a:ext cx="2856190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19" name="Shape 11"/>
          <p:cNvSpPr/>
          <p:nvPr/>
        </p:nvSpPr>
        <p:spPr>
          <a:xfrm>
            <a:off x="7555111" y="2938939"/>
            <a:ext cx="6416516" cy="1957507"/>
          </a:xfrm>
          <a:prstGeom prst="roundRect">
            <a:avLst>
              <a:gd name="adj" fmla="val 5605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111" y="2916079"/>
            <a:ext cx="6416516" cy="91440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98" y="2653427"/>
            <a:ext cx="571143" cy="571143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9129" y="2796183"/>
            <a:ext cx="228481" cy="285512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7768352" y="3414951"/>
            <a:ext cx="238017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</a:t>
            </a:r>
            <a:endParaRPr lang="en-US" sz="1850" dirty="0"/>
          </a:p>
        </p:txBody>
      </p:sp>
      <p:sp>
        <p:nvSpPr>
          <p:cNvPr id="24" name="Text 13"/>
          <p:cNvSpPr/>
          <p:nvPr/>
        </p:nvSpPr>
        <p:spPr>
          <a:xfrm>
            <a:off x="7768352" y="3902750"/>
            <a:ext cx="599003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distilbert-base-uncased-distilled-squad</a:t>
            </a:r>
            <a:endParaRPr lang="en-US" sz="1450" dirty="0"/>
          </a:p>
        </p:txBody>
      </p:sp>
      <p:sp>
        <p:nvSpPr>
          <p:cNvPr id="25" name="Text 14"/>
          <p:cNvSpPr/>
          <p:nvPr/>
        </p:nvSpPr>
        <p:spPr>
          <a:xfrm>
            <a:off x="7768352" y="4378643"/>
            <a:ext cx="599003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Transformer-based QA</a:t>
            </a:r>
            <a:endParaRPr lang="en-US" sz="1450" dirty="0"/>
          </a:p>
        </p:txBody>
      </p:sp>
      <p:sp>
        <p:nvSpPr>
          <p:cNvPr id="26" name="Shape 15"/>
          <p:cNvSpPr/>
          <p:nvPr/>
        </p:nvSpPr>
        <p:spPr>
          <a:xfrm>
            <a:off x="7555111" y="5372338"/>
            <a:ext cx="6416516" cy="1481614"/>
          </a:xfrm>
          <a:prstGeom prst="roundRect">
            <a:avLst>
              <a:gd name="adj" fmla="val 7406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111" y="5349478"/>
            <a:ext cx="6416516" cy="91440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98" y="5086826"/>
            <a:ext cx="571143" cy="571143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9129" y="5229582"/>
            <a:ext cx="228481" cy="285512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7768352" y="5848350"/>
            <a:ext cx="238017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Purpose</a:t>
            </a:r>
            <a:endParaRPr lang="en-US" sz="1850" dirty="0"/>
          </a:p>
        </p:txBody>
      </p:sp>
      <p:sp>
        <p:nvSpPr>
          <p:cNvPr id="31" name="Text 17"/>
          <p:cNvSpPr/>
          <p:nvPr/>
        </p:nvSpPr>
        <p:spPr>
          <a:xfrm>
            <a:off x="7768352" y="6336149"/>
            <a:ext cx="599003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Extract precise answers from uploaded content.</a:t>
            </a:r>
            <a:endParaRPr lang="en-US" sz="1450" dirty="0"/>
          </a:p>
        </p:txBody>
      </p:sp>
      <p:sp>
        <p:nvSpPr>
          <p:cNvPr id="32" name="Text 18"/>
          <p:cNvSpPr/>
          <p:nvPr/>
        </p:nvSpPr>
        <p:spPr>
          <a:xfrm>
            <a:off x="666393" y="7353657"/>
            <a:ext cx="2856190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62A49F-E178-0DB8-9C80-E25306682827}"/>
              </a:ext>
            </a:extLst>
          </p:cNvPr>
          <p:cNvSpPr/>
          <p:nvPr/>
        </p:nvSpPr>
        <p:spPr>
          <a:xfrm>
            <a:off x="12826135" y="7756446"/>
            <a:ext cx="1726206" cy="351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2578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Validation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2361" y="1202650"/>
            <a:ext cx="7390209" cy="707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 Performance Metrics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2361" y="2476024"/>
            <a:ext cx="4111109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Summarizer Performance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2361" y="3126819"/>
            <a:ext cx="6246733" cy="108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ROUGE-1: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~44.16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ROUGE-2: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~21.28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ROUGE-L: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~41.08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2361" y="4417457"/>
            <a:ext cx="6246733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CC97B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Outcome: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Clear, concise, human-readable summaries.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947210" y="2348185"/>
            <a:ext cx="6246733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Instrument Sans Medium" panose="020B0604020202020204" charset="0"/>
              </a:rPr>
              <a:t>System</a:t>
            </a:r>
            <a:r>
              <a:rPr lang="en-US" sz="2800" dirty="0">
                <a:latin typeface="Instrument Sans Medium" panose="020B0604020202020204" charset="0"/>
              </a:rPr>
              <a:t>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Instrument Sans Medium" panose="020B0604020202020204" charset="0"/>
              </a:rPr>
              <a:t>Architecture</a:t>
            </a:r>
          </a:p>
        </p:txBody>
      </p:sp>
      <p:sp>
        <p:nvSpPr>
          <p:cNvPr id="8" name="Text 6"/>
          <p:cNvSpPr/>
          <p:nvPr/>
        </p:nvSpPr>
        <p:spPr>
          <a:xfrm>
            <a:off x="792361" y="5464493"/>
            <a:ext cx="3396020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QA Model Accuracy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92361" y="6115288"/>
            <a:ext cx="6246733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F1 Score: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87.1%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 Score: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78.1%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2361" y="7043618"/>
            <a:ext cx="6246733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CC97B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Outcome: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Highly accurate in extracting relevant answers.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8926" y="5464493"/>
            <a:ext cx="3745111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Real-World Robustness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7598926" y="6115288"/>
            <a:ext cx="6246733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Effective across diverse privacy policies (Google, Instagram, etc.). Robust with both PDF and raw text inputs.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CDB723-AF8E-2818-F452-5BEE4BAD90B2}"/>
              </a:ext>
            </a:extLst>
          </p:cNvPr>
          <p:cNvSpPr/>
          <p:nvPr/>
        </p:nvSpPr>
        <p:spPr>
          <a:xfrm>
            <a:off x="12826135" y="7756446"/>
            <a:ext cx="1726206" cy="351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98637F7A-AC30-72B0-E7D3-724A2BD0BD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6650236"/>
              </p:ext>
            </p:extLst>
          </p:nvPr>
        </p:nvGraphicFramePr>
        <p:xfrm>
          <a:off x="6947210" y="2900482"/>
          <a:ext cx="7315200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282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Foundations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93790" y="1809393"/>
            <a:ext cx="61414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Research &amp; References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2858334"/>
            <a:ext cx="7948766" cy="2186914"/>
          </a:xfrm>
          <a:prstGeom prst="roundRect">
            <a:avLst>
              <a:gd name="adj" fmla="val 356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1028224" y="3175012"/>
            <a:ext cx="56402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Analysis And Simplification Of Privacy Policy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Documents At Scale - </a:t>
            </a:r>
            <a:r>
              <a:rPr lang="en-US" sz="17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ArXiv</a:t>
            </a:r>
            <a:endParaRPr lang="en-US" sz="1750" dirty="0">
              <a:solidFill>
                <a:srgbClr val="5B5F71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5B5F71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28223" y="4002761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5B5F71"/>
                </a:solidFill>
                <a:latin typeface="Instrument Sans Medium" panose="020B0604020202020204" charset="0"/>
                <a:ea typeface="Instrument Sans Medium" pitchFamily="34" charset="-122"/>
                <a:cs typeface="Instrument Sans Medium" pitchFamily="34" charset="-120"/>
              </a:rPr>
              <a:t>Text Summarization using Deep Learning: A Study on Automatic</a:t>
            </a: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5B5F71"/>
                </a:solidFill>
                <a:latin typeface="Instrument Sans Medium" panose="020B0604020202020204" charset="0"/>
                <a:ea typeface="Instrument Sans Medium" pitchFamily="34" charset="-122"/>
                <a:cs typeface="Instrument Sans Medium" pitchFamily="34" charset="-120"/>
              </a:rPr>
              <a:t> Summarization - </a:t>
            </a:r>
            <a:r>
              <a:rPr lang="en-US" dirty="0">
                <a:solidFill>
                  <a:srgbClr val="5B5F71"/>
                </a:solidFill>
                <a:latin typeface="Instrument Sans Medium" panose="020B0604020202020204" charset="0"/>
              </a:rPr>
              <a:t>The Asian Bulletin of Big Data Management  (ABBDM) </a:t>
            </a:r>
          </a:p>
        </p:txBody>
      </p:sp>
      <p:sp>
        <p:nvSpPr>
          <p:cNvPr id="9" name="Text 6"/>
          <p:cNvSpPr/>
          <p:nvPr/>
        </p:nvSpPr>
        <p:spPr>
          <a:xfrm>
            <a:off x="1028224" y="527767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87299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793790" y="66384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</TotalTime>
  <Words>278</Words>
  <Application>Microsoft Office PowerPoint</Application>
  <PresentationFormat>Custom</PresentationFormat>
  <Paragraphs>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Instrument Sans Medium</vt:lpstr>
      <vt:lpstr>Instrument Sans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Madhu Rithika</cp:lastModifiedBy>
  <cp:revision>2</cp:revision>
  <dcterms:created xsi:type="dcterms:W3CDTF">2025-07-30T08:17:45Z</dcterms:created>
  <dcterms:modified xsi:type="dcterms:W3CDTF">2025-07-31T05:33:54Z</dcterms:modified>
</cp:coreProperties>
</file>